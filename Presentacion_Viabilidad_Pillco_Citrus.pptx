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FFCC80"/>
                </a:solidFill>
              </a:defRPr>
            </a:pPr>
            <a:r>
              <a:t>UNIVERSIDAD NACIONAL HERMILIO VALDIZÁN</a:t>
            </a:r>
            <a:br/>
            <a:r>
              <a:t>FACULTAD DE INGENIERÍA INDUSTRIAL, DE SISTEMAS Y MECATRÓNICA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ESTUDIO DE VIABILIDAD A NIVEL DE PERFIL:</a:t>
            </a:r>
          </a:p>
          <a:p>
            <a:pPr>
              <a:spcAft>
                <a:spcPts val="1500"/>
              </a:spcAft>
              <a:defRPr sz="2800" b="1">
                <a:solidFill>
                  <a:srgbClr val="FFEB3B"/>
                </a:solidFill>
              </a:defRPr>
            </a:pPr>
            <a:r>
              <a:t>Planta de Lavavajilla Líquido Biodegradable a partir de Extractos de Cáscaras de Naranja y Limón</a:t>
            </a:r>
          </a:p>
          <a:p>
            <a:pPr>
              <a:spcAft>
                <a:spcPts val="3500"/>
              </a:spcAft>
              <a:defRPr sz="1500" b="1">
                <a:solidFill>
                  <a:srgbClr val="FFFFFF"/>
                </a:solidFill>
              </a:defRPr>
            </a:pPr>
            <a:r>
              <a:t>PROYECTO: PILLCO CITRUS S.A.C. | CIUDAD DE HUÁNUCO</a:t>
            </a:r>
          </a:p>
          <a:p>
            <a:pPr>
              <a:defRPr sz="1300">
                <a:solidFill>
                  <a:srgbClr val="E6EEE8"/>
                </a:solidFill>
              </a:defRPr>
            </a:pPr>
            <a:r>
              <a:t>• Docente: Dr. Fermín Montesinos Chávez</a:t>
            </a:r>
            <a:br/>
            <a:r>
              <a:t>• Asignatura: Formulación y Evaluación de Proyectos</a:t>
            </a:r>
            <a:br/>
            <a:r>
              <a:t>• Integrantes: Bueno Vela, Ayleem Naelly | Espinoza Cárdenas, Alexandra</a:t>
            </a:r>
            <a:br/>
            <a:r>
              <a:t>• Fecha: 28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Datos Generales y Justificación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1F8F2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B5E20"/>
                </a:solidFill>
              </a:defRPr>
            </a:pPr>
            <a:r>
              <a:t>ENTIDAD Y MARCA</a:t>
            </a:r>
          </a:p>
          <a:p>
            <a:pPr>
              <a:spcAft>
                <a:spcPts val="1200"/>
              </a:spcAft>
              <a:defRPr sz="1200" b="1">
                <a:solidFill>
                  <a:srgbClr val="E65100"/>
                </a:solidFill>
              </a:defRPr>
            </a:pPr>
            <a:r>
              <a:t>Pillco Citrus S.A.C.</a:t>
            </a:r>
            <a:br/>
            <a:r>
              <a:t>Marca: Pillco Citrus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Combina la identidad territorial del histórico valle de Pillco (Huánuco) con los cítricos locales.</a:t>
            </a:r>
            <a:br/>
            <a:r>
              <a:t>• Enfoque de Economía Circular: Aprovecha residuos agroalimentarios (cáscaras de naranja y limón).</a:t>
            </a:r>
            <a:br/>
            <a:r>
              <a:t>• Nuevo bien y proceso productivo a escala piloto.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1F8F2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B5E20"/>
                </a:solidFill>
              </a:defRPr>
            </a:pPr>
            <a:r>
              <a:t>LOCALIZACIÓN ESTRATÉGICA</a:t>
            </a:r>
          </a:p>
          <a:p>
            <a:pPr>
              <a:spcAft>
                <a:spcPts val="1200"/>
              </a:spcAft>
              <a:defRPr sz="1200" b="1">
                <a:solidFill>
                  <a:srgbClr val="E65100"/>
                </a:solidFill>
              </a:defRPr>
            </a:pPr>
            <a:r>
              <a:t>Ciudad de Huánuco</a:t>
            </a:r>
            <a:br/>
            <a:r>
              <a:t>(Huánuco, Pillco Marca, Amarilis)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Materia prima disponible: Huánuco cuenta con más de 1,014 ha de cítricos (875 ha naranja, 139 ha mandarina).</a:t>
            </a:r>
            <a:br/>
            <a:r>
              <a:t>• Proximidad al mercado objetivo urbano y reducción de fletes logísticos.</a:t>
            </a:r>
            <a:br/>
            <a:r>
              <a:t>• Conectividad para distribución directa a bodegas.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1F8F2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B5E20"/>
                </a:solidFill>
              </a:defRPr>
            </a:pPr>
            <a:r>
              <a:t>ESCALA Y CAPACIDAD PILOTO</a:t>
            </a:r>
          </a:p>
          <a:p>
            <a:pPr>
              <a:spcAft>
                <a:spcPts val="1200"/>
              </a:spcAft>
              <a:defRPr sz="1200" b="1">
                <a:solidFill>
                  <a:srgbClr val="E65100"/>
                </a:solidFill>
              </a:defRPr>
            </a:pPr>
            <a:r>
              <a:t>Dimensionamiento Técnico</a:t>
            </a:r>
            <a:br/>
            <a:r>
              <a:t>Capacidad Máxima: 120,000 bot/año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Tanque mezclador de 200 L por lote (400 botellas de 500 mL por lote).</a:t>
            </a:r>
            <a:br/>
            <a:r>
              <a:t>• 1 lote/día, 25 días/mes = 10,000 botellas/mes.</a:t>
            </a:r>
            <a:br/>
            <a:r>
              <a:t>• Valida formulación, costos y mercado antes de comprometer mayores inversiones.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Propuesta de Valor, Innovación y Competencia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5E20"/>
                </a:solidFill>
              </a:defRPr>
            </a:pPr>
            <a:r>
              <a:t>ATRIBUTOS DIFERENCIALES</a:t>
            </a:r>
          </a:p>
          <a:p>
            <a:pPr>
              <a:defRPr sz="1150">
                <a:solidFill>
                  <a:srgbClr val="212121"/>
                </a:solidFill>
              </a:defRPr>
            </a:pPr>
            <a:r>
              <a:t>• Poder Desengrasante Natural: Basado en limoneno extraído de cáscaras cítricas y tensioactivos biodegradables.</a:t>
            </a:r>
            <a:br/>
            <a:r>
              <a:t>• Sostenibilidad &amp; Economía Circular: Reutiliza residuos de pollerías, juguerías y mercados locales.</a:t>
            </a:r>
            <a:br/>
            <a:r>
              <a:t>• Identidad Territorial: Marca huanuqueña que conecta con el orgullo regional y la ecología.</a:t>
            </a:r>
            <a:br/>
            <a:r>
              <a:t>• Calidad Controlada: Estandarización de lotes, pH neutro para la piel y viscosidad óptima.</a:t>
            </a:r>
            <a:br/>
            <a:r>
              <a:t>• Presentación: Botella ergonómica de 500 mL con dispensador push-pull.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1F8F2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65100"/>
                </a:solidFill>
              </a:defRPr>
            </a:pPr>
            <a:r>
              <a:t>BENCHMARKING DE COMPETIDORES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1. Marcas Industriales Masivas (Ayudín, Sapolio, Cif):</a:t>
            </a:r>
            <a:br/>
            <a:r>
              <a:t>   - Precios: S/ 6.50 a S/ 8.50 (500 mL).</a:t>
            </a:r>
            <a:br/>
            <a:r>
              <a:t>   - Químicos sintéticos, fragancias artificiales.</a:t>
            </a:r>
            <a:br/>
            <a:r>
              <a:t>   - Ayudín concentra el 47.5% de recordación local.</a:t>
            </a:r>
            <a:br/>
            <a:br/>
            <a:r>
              <a:t>2. Marcas Económicas (Boreal, Home Care, EKOS):</a:t>
            </a:r>
            <a:br/>
            <a:r>
              <a:t>   - Precios: S/ 3.90 a S/ 4.50.</a:t>
            </a:r>
            <a:br/>
            <a:r>
              <a:t>   - Bajo poder desengrasante, sin enfoque ecológico.</a:t>
            </a:r>
            <a:br/>
            <a:br/>
            <a:r>
              <a:t>3. Alternativa Artesanal Informal:</a:t>
            </a:r>
            <a:br/>
            <a:r>
              <a:t>   - Sin registro sanitario ni control de calidad lote a lote.</a:t>
            </a:r>
            <a:br/>
            <a:br/>
            <a:r>
              <a:t>=&gt; Pillco Citrus se posiciona a S/ 5.90 al público (precio medio justo y ecológico).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Validación de Mercado: Hallazgos Clave de la Encuesta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E65100"/>
                </a:solidFill>
              </a:defRPr>
            </a:pPr>
            <a:r>
              <a:t>82.5 %</a:t>
            </a:r>
          </a:p>
          <a:p>
            <a:pPr>
              <a:spcAft>
                <a:spcPts val="400"/>
              </a:spcAft>
              <a:defRPr sz="1200" b="1">
                <a:solidFill>
                  <a:srgbClr val="1B5E20"/>
                </a:solidFill>
              </a:defRPr>
            </a:pPr>
            <a:r>
              <a:t>INTENCIÓN DE COMPRA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Comprarían el lavavajilla cítrico producido en Huánuco (52.5% Seguro sí, 30% Probablemente).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E65100"/>
                </a:solidFill>
              </a:defRPr>
            </a:pPr>
            <a:r>
              <a:t>67.5 %</a:t>
            </a:r>
          </a:p>
          <a:p>
            <a:pPr>
              <a:spcAft>
                <a:spcPts val="400"/>
              </a:spcAft>
              <a:defRPr sz="1200" b="1">
                <a:solidFill>
                  <a:srgbClr val="1B5E20"/>
                </a:solidFill>
              </a:defRPr>
            </a:pPr>
            <a:r>
              <a:t>VALORACIÓN ECOLÓGICA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Consideran Importante o Muy Importante que sea natural y biodegradable (Puntaje: 3.95 / 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E65100"/>
                </a:solidFill>
              </a:defRPr>
            </a:pPr>
            <a:r>
              <a:t>35.0 %</a:t>
            </a:r>
          </a:p>
          <a:p>
            <a:pPr>
              <a:spcAft>
                <a:spcPts val="400"/>
              </a:spcAft>
              <a:defRPr sz="1200" b="1">
                <a:solidFill>
                  <a:srgbClr val="1B5E20"/>
                </a:solidFill>
              </a:defRPr>
            </a:pPr>
            <a:r>
              <a:t>PENETRACIÓN LÍQUIDO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Usan formato líquido actualmente (42 de 120 hogares). 65% usa pasta (mercado a convertir).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E65100"/>
                </a:solidFill>
              </a:defRPr>
            </a:pPr>
            <a:r>
              <a:t>47.5 %</a:t>
            </a:r>
          </a:p>
          <a:p>
            <a:pPr>
              <a:spcAft>
                <a:spcPts val="400"/>
              </a:spcAft>
              <a:defRPr sz="1200" b="1">
                <a:solidFill>
                  <a:srgbClr val="1B5E20"/>
                </a:solidFill>
              </a:defRPr>
            </a:pPr>
            <a:r>
              <a:t>DISPOSICIÓN A PAGAR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Dispuestos a pagar S/ 5.50 a más por la botella de 500 mL, validando el precio PVP de S/ 5.90.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Cuantificación de la Demanda Potencial (Paso a Paso)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MEMORIA DE CÁLCULO: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1. Población Objetivo Urbana:</a:t>
            </a:r>
            <a:br/>
            <a:r>
              <a:t>   217,834 habitantes (Prov. Huánuco, INEI).</a:t>
            </a:r>
            <a:br/>
            <a:br/>
            <a:r>
              <a:t>2. Total de Hogares Urbanos:</a:t>
            </a:r>
            <a:br/>
            <a:r>
              <a:t>   217,834 ÷ 4.5 personas/hogar = 48,408 hogares.</a:t>
            </a:r>
            <a:br/>
            <a:br/>
            <a:r>
              <a:t>3. Mercado Efectivo Líquido:</a:t>
            </a:r>
            <a:br/>
            <a:r>
              <a:t>   48,408 × 35.0% = 16,943 hogares que usan formato líquido.</a:t>
            </a:r>
            <a:br/>
            <a:br/>
            <a:r>
              <a:t>4. Consumo Promedio Mensual:</a:t>
            </a:r>
            <a:br/>
            <a:r>
              <a:t>   1.43 botellas de 500 mL / mes por hogar.</a:t>
            </a:r>
            <a:br/>
            <a:br/>
            <a:r>
              <a:t>5. Demanda Potencial Anual:</a:t>
            </a:r>
            <a:br/>
            <a:r>
              <a:t>   16,943 × 1.43 × 12 = 290,742 botellas/año.</a:t>
            </a:r>
          </a:p>
        </p:txBody>
      </p:sp>
      <p:pic>
        <p:nvPicPr>
          <p:cNvPr id="9" name="Picture 8" descr="tabla_dem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400800" cy="24568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Estrategia Comercial (Marketing Mix - 4P)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F5F7F5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PRODUCTO</a:t>
            </a:r>
          </a:p>
          <a:p>
            <a:pPr>
              <a:spcAft>
                <a:spcPts val="1000"/>
              </a:spcAft>
              <a:defRPr sz="1100" b="1">
                <a:solidFill>
                  <a:srgbClr val="1B5E20"/>
                </a:solidFill>
              </a:defRPr>
            </a:pPr>
            <a:r>
              <a:t>Lavavajilla Líquido 500 mL</a:t>
            </a:r>
          </a:p>
          <a:p>
            <a:pPr>
              <a:defRPr sz="1000">
                <a:solidFill>
                  <a:srgbClr val="212121"/>
                </a:solidFill>
              </a:defRPr>
            </a:pPr>
            <a:r>
              <a:t>• Alto poder desengrasante natural (limoneno).</a:t>
            </a:r>
            <a:br/>
            <a:r>
              <a:t>• Fragancia cítrica fresca sin químicos irritantes.</a:t>
            </a:r>
            <a:br/>
            <a:r>
              <a:t>• Biodegradable y suave con las manos.</a:t>
            </a:r>
            <a:br/>
            <a:r>
              <a:t>• Envase reciclable con sistema de recarga proyectado.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514600" cy="4663440"/>
          </a:xfrm>
          <a:prstGeom prst="roundRect">
            <a:avLst/>
          </a:prstGeom>
          <a:solidFill>
            <a:srgbClr val="F5F7F5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64592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PRECIO</a:t>
            </a:r>
          </a:p>
          <a:p>
            <a:pPr>
              <a:spcAft>
                <a:spcPts val="1000"/>
              </a:spcAft>
              <a:defRPr sz="1100" b="1">
                <a:solidFill>
                  <a:srgbClr val="1B5E20"/>
                </a:solidFill>
              </a:defRPr>
            </a:pPr>
            <a:r>
              <a:t>Estrategia de Penetración</a:t>
            </a:r>
          </a:p>
          <a:p>
            <a:pPr>
              <a:defRPr sz="1000">
                <a:solidFill>
                  <a:srgbClr val="212121"/>
                </a:solidFill>
              </a:defRPr>
            </a:pPr>
            <a:r>
              <a:t>• Precio Venta al Canal: S/ 4.90 por botella.</a:t>
            </a:r>
            <a:br/>
            <a:r>
              <a:t>• Precio Venta al Público: S/ 5.90 por botella.</a:t>
            </a:r>
            <a:br/>
            <a:r>
              <a:t>• Margen atractivo para bodega: S/ 1.00 (20.4%).</a:t>
            </a:r>
            <a:br/>
            <a:r>
              <a:t>• Competitivo frente a Sapolio (S/ 6.50) y Cif (S/ 7.50).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514600" cy="4663440"/>
          </a:xfrm>
          <a:prstGeom prst="roundRect">
            <a:avLst/>
          </a:prstGeom>
          <a:solidFill>
            <a:srgbClr val="F5F7F5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PLAZA</a:t>
            </a:r>
          </a:p>
          <a:p>
            <a:pPr>
              <a:spcAft>
                <a:spcPts val="1000"/>
              </a:spcAft>
              <a:defRPr sz="1100" b="1">
                <a:solidFill>
                  <a:srgbClr val="1B5E20"/>
                </a:solidFill>
              </a:defRPr>
            </a:pPr>
            <a:r>
              <a:t>Distribución Directa Local</a:t>
            </a:r>
          </a:p>
          <a:p>
            <a:pPr>
              <a:defRPr sz="1000">
                <a:solidFill>
                  <a:srgbClr val="212121"/>
                </a:solidFill>
              </a:defRPr>
            </a:pPr>
            <a:r>
              <a:t>• Canal principal: Bodegas y minimarkets urbanos.</a:t>
            </a:r>
            <a:br/>
            <a:r>
              <a:t>• Reparto propio semanal en moto-furgón / flete local.</a:t>
            </a:r>
            <a:br/>
            <a:r>
              <a:t>• Mercados de abastos de Huánuco y Amarilis.</a:t>
            </a:r>
            <a:br/>
            <a:r>
              <a:t>• Expansión: Supermercados y restaurantes desde Año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514600" cy="4663440"/>
          </a:xfrm>
          <a:prstGeom prst="roundRect">
            <a:avLst/>
          </a:prstGeom>
          <a:solidFill>
            <a:srgbClr val="F5F7F5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64592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PROMOCIÓN</a:t>
            </a:r>
          </a:p>
          <a:p>
            <a:pPr>
              <a:spcAft>
                <a:spcPts val="1000"/>
              </a:spcAft>
              <a:defRPr sz="1100" b="1">
                <a:solidFill>
                  <a:srgbClr val="1B5E20"/>
                </a:solidFill>
              </a:defRPr>
            </a:pPr>
            <a:r>
              <a:t>Marketing Verde y Cercanía</a:t>
            </a:r>
          </a:p>
          <a:p>
            <a:pPr>
              <a:defRPr sz="1000">
                <a:solidFill>
                  <a:srgbClr val="212121"/>
                </a:solidFill>
              </a:defRPr>
            </a:pPr>
            <a:r>
              <a:t>• Alianzas de economía circular con juguerías y pollerías.</a:t>
            </a:r>
            <a:br/>
            <a:r>
              <a:t>• Degustaciones de aroma y pruebas en ferias locales.</a:t>
            </a:r>
            <a:br/>
            <a:r>
              <a:t>• Contenido educativo en redes sobre sostenibilidad.</a:t>
            </a:r>
            <a:br/>
            <a:r>
              <a:t>• Material POP llamativo para puntos de venta bodegueros.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Ingeniería del Proyecto: Proceso Productivo y Planta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7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468880" cy="11887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B5E20"/>
                </a:solidFill>
              </a:defRPr>
            </a:pPr>
            <a:r>
              <a:t>1. Recepción y Selección</a:t>
            </a:r>
            <a:br/>
            <a:r>
              <a:t>(Cáscaras cítricas)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468880" cy="11887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B5E20"/>
                </a:solidFill>
              </a:defRPr>
            </a:pPr>
            <a:r>
              <a:t>2. Lavado y</a:t>
            </a:r>
            <a:br/>
            <a:r>
              <a:t>Desinfección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2468880" cy="11887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00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B5E20"/>
                </a:solidFill>
              </a:defRPr>
            </a:pPr>
            <a:r>
              <a:t>3. Trituración y</a:t>
            </a:r>
            <a:br/>
            <a:r>
              <a:t>Maceración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468880" cy="118872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600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4. Extracción Aceite</a:t>
            </a:r>
            <a:br/>
            <a:r>
              <a:t>(Limoneno y filtrado)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2468880" cy="118872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5. Mezcla y Aditivos</a:t>
            </a:r>
            <a:br/>
            <a:r>
              <a:t>(Tensioactivos y agua)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2926080"/>
            <a:ext cx="2468880" cy="118872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6. Control Calidad</a:t>
            </a:r>
            <a:br/>
            <a:r>
              <a:t>(pH neutro, viscosidad)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926080"/>
            <a:ext cx="2468880" cy="11887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B5E20"/>
                </a:solidFill>
              </a:defRPr>
            </a:pPr>
            <a:r>
              <a:t>7. Envasado y</a:t>
            </a:r>
            <a:br/>
            <a:r>
              <a:t>Etiquetado (500 mL)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2926080"/>
            <a:ext cx="2468880" cy="11887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B5E20"/>
                </a:solidFill>
              </a:defRPr>
            </a:pPr>
            <a:r>
              <a:t>8. Almacén y</a:t>
            </a:r>
            <a:br/>
            <a:r>
              <a:t>Distribución Comercial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65100"/>
                </a:solidFill>
              </a:defRPr>
            </a:pPr>
            <a:r>
              <a:t>REQUERIMIENTOS TÉCNICOS Y REGULATORIOS CLAVE:</a:t>
            </a:r>
          </a:p>
          <a:p>
            <a:pPr>
              <a:defRPr sz="1000">
                <a:solidFill>
                  <a:srgbClr val="212121"/>
                </a:solidFill>
              </a:defRPr>
            </a:pPr>
            <a:r>
              <a:t>• Local: 60 m² con zonificación compatible, piso lavable, energía monofásica/trifásica y suministro continuo de agua.</a:t>
            </a:r>
            <a:br/>
            <a:r>
              <a:t>• Equipamiento: Tanque de acero inox 200 L con agitador, equipo extractor de aceites, molino, llenadora y medidor de pH.</a:t>
            </a:r>
            <a:br/>
            <a:r>
              <a:t>• Seguridad &amp; Calidad: Manipulación de limoneno (irritante/inflamable) bajo EPP y ventilación. Trámite de autorización sanitaria ante DIGESA.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Presupuesto de Inversión Total (S/ 66,000)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DESGLOSE DE LA INVERSIÓN: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Inversión Tangible: S/ 30,000 (45.5%)</a:t>
            </a:r>
            <a:br/>
            <a:r>
              <a:t>  Tanque 200L, extractor, triturador, llenadora, mobiliario y acondicionamiento.</a:t>
            </a:r>
            <a:br/>
            <a:br/>
            <a:r>
              <a:t>• Inversión Intangible: S/ 8,000 (12.1%)</a:t>
            </a:r>
            <a:br/>
            <a:r>
              <a:t>  Constitución S.A.C., registro INDECOPI, trámites DIGESA y diseño de marca.</a:t>
            </a:r>
            <a:br/>
            <a:br/>
            <a:r>
              <a:t>• Capital de Trabajo: S/ 28,000 (42.4%)</a:t>
            </a:r>
            <a:br/>
            <a:r>
              <a:t>  Cubre 1.93 meses de operación y garantiza pagar la cuota del préstamo del Año 1.</a:t>
            </a:r>
            <a:br/>
            <a:br/>
            <a:r>
              <a:t>=&gt; FÓRMULA:</a:t>
            </a:r>
            <a:br/>
            <a:r>
              <a:t>Inv. Total = 30,000 + 8,000 + 28,000 = S/ 66,000</a:t>
            </a:r>
          </a:p>
        </p:txBody>
      </p:sp>
      <p:pic>
        <p:nvPicPr>
          <p:cNvPr id="9" name="Picture 8" descr="tabla_i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6675120" cy="31689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Estructura de Financiamiento y Servicio de Deuda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9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ESTRUCTURA Y CONDICIONES: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Capital Propio: S/ 39,600 (60%)</a:t>
            </a:r>
            <a:br/>
            <a:r>
              <a:t>  Aportado en partes iguales por las 2 socias. Costo de Oportunidad (COK) = 20.0%.</a:t>
            </a:r>
            <a:br/>
            <a:br/>
            <a:r>
              <a:t>• Deuda Financiera: S/ 26,400 (40%)</a:t>
            </a:r>
            <a:br/>
            <a:r>
              <a:t>  Préstamo a 3 años, TEA = 24.0% anual.</a:t>
            </a:r>
            <a:br/>
            <a:br/>
            <a:r>
              <a:t>• Cuota Anual Constante (Francés):</a:t>
            </a:r>
            <a:br/>
            <a:r>
              <a:t>  Cuota = 26,400 × 0.24 / [1 - (1.24)^-3]</a:t>
            </a:r>
            <a:br/>
            <a:r>
              <a:t>  Cuota = S/ 13,325 al año.</a:t>
            </a:r>
            <a:br/>
            <a:br/>
            <a:r>
              <a:t>• Costo Promedio Capital (WACC):</a:t>
            </a:r>
            <a:br/>
            <a:r>
              <a:t>  WACC = 0.60(20%) + 0.40(24%)(1-0.10)</a:t>
            </a:r>
            <a:br/>
            <a:r>
              <a:t>  WACC = 20.64% anual.</a:t>
            </a:r>
          </a:p>
        </p:txBody>
      </p:sp>
      <p:pic>
        <p:nvPicPr>
          <p:cNvPr id="9" name="Picture 8" descr="tabla_presta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28800"/>
            <a:ext cx="6675120" cy="19553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Proyección de Costos Operativos y Economías de Escala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10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ANÁLISIS DE COSTOS: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Costo Variable Unitario (Año 1):</a:t>
            </a:r>
            <a:br/>
            <a:r>
              <a:t>  S/ 2.30 por botella (Tensioactivos S/ 0.90, Envase/tapa S/ 0.70, Insumos S/ 0.70).</a:t>
            </a:r>
            <a:br/>
            <a:br/>
            <a:r>
              <a:t>• Costos Fijos Anuales (Año 1):</a:t>
            </a:r>
            <a:br/>
            <a:r>
              <a:t>  S/ 98,640 (Planilla 3 personas S/ 66,240, Alquiler local S/ 14,400, Servicios/mkt).</a:t>
            </a:r>
            <a:br/>
            <a:br/>
            <a:r>
              <a:t>• Reducción de Costo Unitario:</a:t>
            </a:r>
            <a:br/>
            <a:r>
              <a:t>  Baja de S/ 5.29 (Año 1) a S/ 4.13 (Año 5) al diluir costos fijos.</a:t>
            </a:r>
            <a:br/>
            <a:r>
              <a:t>  En Año 1 hay pérdida operativa; desde Año 2 el precio supera al costo.</a:t>
            </a:r>
          </a:p>
        </p:txBody>
      </p:sp>
      <p:pic>
        <p:nvPicPr>
          <p:cNvPr id="9" name="Picture 8" descr="tabla_cos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6766560" cy="25972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10. Estado de Resultados Proyectado a 5 Años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PUNTOS CLAVE DEL EJERCICIO: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Año 1 (Fase de Inserción):</a:t>
            </a:r>
            <a:br/>
            <a:r>
              <a:t>  Ingresos: S/ 161,391 (32,937 botellas).</a:t>
            </a:r>
            <a:br/>
            <a:r>
              <a:t>  Pérdida neta: -S/ 23,940 debido a ventas por debajo del equilibrio. Financiada con capital de trabajo.</a:t>
            </a:r>
            <a:br/>
            <a:br/>
            <a:r>
              <a:t>• Año 2 al 5 (Crecimiento sostenido):</a:t>
            </a:r>
            <a:br/>
            <a:r>
              <a:t>  Año 2 genera utilidad neta de S/ 3,705.</a:t>
            </a:r>
            <a:br/>
            <a:r>
              <a:t>  Año 5 alcanza utilidad neta de S/ 64,204 con margen neto del 18.6%.</a:t>
            </a:r>
            <a:br/>
            <a:br/>
            <a:r>
              <a:t>• Régimen Tributario MYPE:</a:t>
            </a:r>
            <a:br/>
            <a:r>
              <a:t>  Tasa de Impuesto a la Renta de 10% (utilidad menor a 15 UIT = S/ 82,500).</a:t>
            </a:r>
          </a:p>
        </p:txBody>
      </p:sp>
      <p:pic>
        <p:nvPicPr>
          <p:cNvPr id="9" name="Picture 8" descr="tabla_estado_resul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6766560" cy="38275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11. Flujo de Caja Económico y Financiero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12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ESTRUCTURA DE LIQUIDEZ: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Flujo de Caja Económico (FCE):</a:t>
            </a:r>
            <a:br/>
            <a:r>
              <a:t>  Evalúa la rentabilidad pura del proyecto sin deuda. En Año 0 egresan S/ 66,000.</a:t>
            </a:r>
            <a:br/>
            <a:br/>
            <a:r>
              <a:t>• Flujo de Caja Financiero (FCF):</a:t>
            </a:r>
            <a:br/>
            <a:r>
              <a:t>  Evalúa la rentabilidad del accionista. En Año 0 el aporte es de S/ 39,600.</a:t>
            </a:r>
            <a:br/>
            <a:r>
              <a:t>  Deduce el servicio de la deuda (Años 1-3).</a:t>
            </a:r>
            <a:br/>
            <a:br/>
            <a:r>
              <a:t>• Valor Residual (Año 5):</a:t>
            </a:r>
            <a:br/>
            <a:r>
              <a:t>  S/ 43,000 (Valor libros activos S/ 15,000 + Recuperación Capital Trabajo S/ 28,000).</a:t>
            </a:r>
          </a:p>
        </p:txBody>
      </p:sp>
      <p:pic>
        <p:nvPicPr>
          <p:cNvPr id="9" name="Picture 8" descr="tabla_flujos_ca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6675120" cy="31689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12. Indicadores de Rentabilidad y Decisión de Inversión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13 / 15</a:t>
            </a:r>
          </a:p>
        </p:txBody>
      </p:sp>
      <p:pic>
        <p:nvPicPr>
          <p:cNvPr id="8" name="Picture 7" descr="tabla_indicad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232063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463040"/>
            <a:ext cx="3657600" cy="4572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5E20"/>
                </a:solidFill>
              </a:defRPr>
            </a:pPr>
            <a:r>
              <a:t>DICTAMEN FINANCIERO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✓ VIABILIDAD ECONÓMICA:</a:t>
            </a:r>
            <a:br/>
            <a:r>
              <a:t>  VAN = S/ 22,110 &gt; 0</a:t>
            </a:r>
            <a:br/>
            <a:r>
              <a:t>  TIR = 28.8% &gt; WACC (20.64%)</a:t>
            </a:r>
            <a:br/>
            <a:r>
              <a:t>  B/C = 1.34 (Retorna S/ 1.34 por cada sol)</a:t>
            </a:r>
            <a:br/>
            <a:br/>
            <a:r>
              <a:t>✓ VIABILIDAD FINANCIERA:</a:t>
            </a:r>
            <a:br/>
            <a:r>
              <a:t>  VAN Financiero = S/ 23,013 &gt; 0</a:t>
            </a:r>
            <a:br/>
            <a:r>
              <a:t>  TIR Financiera = 29.9% &gt; COK (20.0%)</a:t>
            </a:r>
            <a:br/>
            <a:r>
              <a:t>  B/C Financiero = 1.58</a:t>
            </a:r>
            <a:br/>
            <a:br/>
            <a:r>
              <a:t>✓ RECUPERACIÓN:</a:t>
            </a:r>
            <a:br/>
            <a:r>
              <a:t>  Capital recuperado en 3.5 años.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13. Punto de Equilibrio y Análisis de Sensibilidad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14 / 15</a:t>
            </a:r>
          </a:p>
        </p:txBody>
      </p:sp>
      <p:pic>
        <p:nvPicPr>
          <p:cNvPr id="8" name="Picture 7" descr="grafico_equilib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2527443"/>
          </a:xfrm>
          <a:prstGeom prst="rect">
            <a:avLst/>
          </a:prstGeom>
        </p:spPr>
      </p:pic>
      <p:pic>
        <p:nvPicPr>
          <p:cNvPr id="9" name="Picture 8" descr="grafico_sensibil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94960" cy="26080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12121"/>
                </a:solidFill>
              </a:defRPr>
            </a:pPr>
            <a:r>
              <a:t>• Equilibrio Operativo: 37,938 botellas/año. En Año 1 (32,937 bot.) no se cubre; en Año 2 (42,982 bot.) se supera con holgura.</a:t>
            </a:r>
            <a:br/>
            <a:r>
              <a:t>• Sensibilidad Crítica: El proyecto es altamente sensible al precio (límite -3.4%) y al volumen (límite -6.3%). Se debe blindar el canal de distribución.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C80"/>
                </a:solidFill>
              </a:defRPr>
            </a:pPr>
            <a:r>
              <a:t>PILLCO CITRUS S.A.C. | ESTUDIO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14. Conclusiones y Recomendaciones Estratégicas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Planta de Lavavajilla Biodegradable a partir de Cáscaras de Cítricos | UNHEVAL - Huánuco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20"/>
                </a:solidFill>
              </a:defRPr>
            </a:pPr>
            <a:r>
              <a:t>15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8F2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5E20"/>
                </a:solidFill>
              </a:defRPr>
            </a:pPr>
            <a:r>
              <a:t>CONCLUSIONES PRINCIPALES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1. Proyecto Viable a Nivel de Perfil: Rentabilidad respaldada por VAN de S/ 22,110 y TIR de 28.8% superando holgadamente el WACC.</a:t>
            </a:r>
            <a:br/>
            <a:br/>
            <a:r>
              <a:t>2. Gran Oportunidad Ecológica y Territorial: 82.5% de aceptación y aprovechamiento de 8 ton de cáscaras cítricas locales bajo economía circular.</a:t>
            </a:r>
            <a:br/>
            <a:br/>
            <a:r>
              <a:t>3. Resiliencia Operativa: Inversión de S/ 66,000 con capital de trabajo dimensionado para blindar las pérdidas del primer año hasta alcanzar equilibrio en el Año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65100"/>
                </a:solidFill>
              </a:defRPr>
            </a:pPr>
            <a:r>
              <a:t>RECOMENDACIONES PARA PREFACTIBILIDAD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1. Asegurar Preventas con Bodegas: Cerrar acuerdos de colocación para mitigar el riesgo por sensibilidad de precio y volumen.</a:t>
            </a:r>
            <a:br/>
            <a:br/>
            <a:r>
              <a:t>2. Cotizaciones Formales: Reemplazar supuestos de maquinaria y adecuación de local (S/ 30,000) por cotizaciones de proveedores.</a:t>
            </a:r>
            <a:br/>
            <a:br/>
            <a:r>
              <a:t>3. Trámite Regulatorio: Consultar con DIGESA los requisitos para notificación sanitaria obligatoria en higiene doméstica.</a:t>
            </a:r>
            <a:br/>
            <a:br/>
            <a:r>
              <a:t>4. Validación de Laboratorio: Ensayos de estabilidad, vida útil y capacidad desengrasante comparativa frente a Ayudín.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